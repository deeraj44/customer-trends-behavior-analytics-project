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arcellus"/>
      <p:regular r:id="rId201314"/>
    </p:embeddedFont>
    <p:embeddedFont>
      <p:font typeface="Montserrat"/>
      <p:regular r:id="rId201315"/>
    </p:embeddedFont>
    <p:embeddedFont>
      <p:font typeface="Montserrat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3.png"/><Relationship Id="rId6" Type="http://schemas.openxmlformats.org/officeDocument/2006/relationships/image" Target="../media/image-4-4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2.png"/><Relationship Id="rId5" Type="http://schemas.openxmlformats.org/officeDocument/2006/relationships/image" Target="../media/image-8-3.svg"/><Relationship Id="rId6" Type="http://schemas.openxmlformats.org/officeDocument/2006/relationships/image" Target="../media/image-8-2.png"/><Relationship Id="rId7" Type="http://schemas.openxmlformats.org/officeDocument/2006/relationships/image" Target="../media/image-8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2335113"/>
            <a:ext cx="6296860" cy="141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Customer Shopping Behavior Analysis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661475" y="4031456"/>
            <a:ext cx="629686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Uncovering insights from 3,900 purchases to guide strategic business decisions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64654"/>
            <a:ext cx="6296860" cy="671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50" spc="-41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Dataset Overview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5233360" y="1491555"/>
            <a:ext cx="6296860" cy="682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comprehensive transaction dataset covering customer demographics, purchase history, and behavioral signals — ready for deep-dive analysis.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309360" y="2455962"/>
            <a:ext cx="2889674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spc="-47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3,900</a:t>
            </a:r>
            <a:endParaRPr lang="en-US" sz="4650" dirty="0"/>
          </a:p>
        </p:txBody>
      </p:sp>
      <p:sp>
        <p:nvSpPr>
          <p:cNvPr id="6" name="Text 3"/>
          <p:cNvSpPr/>
          <p:nvPr/>
        </p:nvSpPr>
        <p:spPr>
          <a:xfrm>
            <a:off x="5233360" y="3266182"/>
            <a:ext cx="3041772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000" spc="-20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Total Purchases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233360" y="3704034"/>
            <a:ext cx="3041772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Transactions analyzed across all customer segments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64348" y="2455962"/>
            <a:ext cx="2889773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spc="-47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18</a:t>
            </a:r>
            <a:endParaRPr lang="en-US" sz="4650" dirty="0"/>
          </a:p>
        </p:txBody>
      </p:sp>
      <p:sp>
        <p:nvSpPr>
          <p:cNvPr id="9" name="Text 6"/>
          <p:cNvSpPr/>
          <p:nvPr/>
        </p:nvSpPr>
        <p:spPr>
          <a:xfrm>
            <a:off x="8488349" y="3266182"/>
            <a:ext cx="3041872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000" spc="-20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Columns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488349" y="3704034"/>
            <a:ext cx="3041872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Comprehensive fields spanning demographics and behavior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36805" y="4590058"/>
            <a:ext cx="2889773" cy="59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spc="-47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37</a:t>
            </a:r>
            <a:endParaRPr lang="en-US" sz="4650" dirty="0"/>
          </a:p>
        </p:txBody>
      </p:sp>
      <p:sp>
        <p:nvSpPr>
          <p:cNvPr id="12" name="Text 9"/>
          <p:cNvSpPr/>
          <p:nvPr/>
        </p:nvSpPr>
        <p:spPr>
          <a:xfrm>
            <a:off x="6860805" y="5400278"/>
            <a:ext cx="3041872" cy="335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000" spc="-20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Missing Values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860805" y="5838130"/>
            <a:ext cx="3041872" cy="45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Only in Review Rating — handled via median imputation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90091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Preparation Process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61475" y="1974552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structured pipeline ensured data quality and analytical readiness before any insights were drawn.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432844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2738140"/>
            <a:ext cx="3496877" cy="2540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883396"/>
            <a:ext cx="349687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Loading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61475" y="3350022"/>
            <a:ext cx="349687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Imported the dataset using pandas for initial processing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47359" y="2432844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7359" y="2738140"/>
            <a:ext cx="3496877" cy="2540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0" name="Text 8"/>
          <p:cNvSpPr/>
          <p:nvPr/>
        </p:nvSpPr>
        <p:spPr>
          <a:xfrm>
            <a:off x="4347359" y="2883396"/>
            <a:ext cx="349687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Initial Exploration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347359" y="3350022"/>
            <a:ext cx="349687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 checks and summary statistics to understand data distribution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033244" y="2432844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33244" y="2738140"/>
            <a:ext cx="3496877" cy="2540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4" name="Text 12"/>
          <p:cNvSpPr/>
          <p:nvPr/>
        </p:nvSpPr>
        <p:spPr>
          <a:xfrm>
            <a:off x="8033244" y="2883396"/>
            <a:ext cx="349687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Missing Data Handling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033244" y="3350022"/>
            <a:ext cx="3496877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Imputed Review Rating values using the median to preserve data integrity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61475" y="4417715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4723011"/>
            <a:ext cx="5339820" cy="2540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4868267"/>
            <a:ext cx="5339820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Feature Engineering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61475" y="5334893"/>
            <a:ext cx="533982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age group segments and purchase frequency metrics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190301" y="4417715"/>
            <a:ext cx="37801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-15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05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0301" y="4723011"/>
            <a:ext cx="5339820" cy="2540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22" name="Text 20"/>
          <p:cNvSpPr/>
          <p:nvPr/>
        </p:nvSpPr>
        <p:spPr>
          <a:xfrm>
            <a:off x="6190301" y="4868267"/>
            <a:ext cx="5339820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Database Integration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190301" y="5334893"/>
            <a:ext cx="533982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Connected to PostgreSQL for scalable, repeatable analysis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173"/>
            <a:ext cx="10868745" cy="615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spc="-37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Revenue by Gender Analysis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40" y="1517154"/>
            <a:ext cx="6231476" cy="35311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3755" y="1894780"/>
            <a:ext cx="3542715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spc="-19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Key Insight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7993755" y="2346424"/>
            <a:ext cx="3542715" cy="801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Female customers generate </a:t>
            </a:r>
            <a:pPr algn="l" indent="0" marL="0">
              <a:lnSpc>
                <a:spcPct val="101000"/>
              </a:lnSpc>
              <a:buNone/>
            </a:pPr>
            <a:r>
              <a:rPr lang="en-US" sz="1250" b="1" dirty="0">
                <a:solidFill>
                  <a:srgbClr val="FF95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slightly higher total revenue</a:t>
            </a:r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than male customers, suggesting an opportunity to refine gender-based marketing strategies.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993755" y="3309739"/>
            <a:ext cx="3542715" cy="1343025"/>
          </a:xfrm>
          <a:prstGeom prst="roundRect">
            <a:avLst>
              <a:gd name="adj" fmla="val 5154"/>
            </a:avLst>
          </a:prstGeom>
          <a:solidFill>
            <a:srgbClr val="FFE0C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554" y="3502720"/>
            <a:ext cx="205973" cy="1648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29325" y="3480197"/>
            <a:ext cx="2842348" cy="1002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Gender-based marketing strategies could further optimize revenue streams by tailoring offers to each segment's purchasing behavior.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371604"/>
            <a:ext cx="5362540" cy="9622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1521" y="5555456"/>
            <a:ext cx="4918646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spc="-1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Female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21521" y="5949553"/>
            <a:ext cx="4918646" cy="200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Higher total revenue contribution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7680" y="5371604"/>
            <a:ext cx="5362540" cy="9622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27726" y="5555456"/>
            <a:ext cx="4918646" cy="3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spc="-1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Male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427726" y="5949553"/>
            <a:ext cx="4918646" cy="200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baseline spending patterns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750987"/>
            <a:ext cx="6296860" cy="141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High-Value Discount Users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5233360" y="2447330"/>
            <a:ext cx="629686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 who combine above-average spending with discount usage represent a uniquely valuable segment — deal-savvy yet high-revenue.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396952"/>
            <a:ext cx="6296860" cy="2710061"/>
          </a:xfrm>
          <a:prstGeom prst="roundRect">
            <a:avLst>
              <a:gd name="adj" fmla="val 2929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52410" y="3416002"/>
            <a:ext cx="6258761" cy="1335980"/>
          </a:xfrm>
          <a:custGeom>
            <a:avLst/>
            <a:gdLst/>
            <a:ahLst/>
            <a:cxnLst/>
            <a:rect l="l" t="t" r="r" b="b"/>
            <a:pathLst>
              <a:path w="6258761" h="1335980">
                <a:moveTo>
                  <a:pt x="66156" y="0"/>
                </a:moveTo>
                <a:lnTo>
                  <a:pt x="6192604" y="0"/>
                </a:lnTo>
                <a:arcTo hR="66158" wR="66156" stAng="16200000" swAng="5400000"/>
                <a:lnTo>
                  <a:pt x="6258761" y="1335980"/>
                </a:lnTo>
                <a:lnTo>
                  <a:pt x="0" y="1335980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FFFFF4"/>
          </a:solidFill>
          <a:ln/>
        </p:spPr>
      </p:sp>
      <p:sp>
        <p:nvSpPr>
          <p:cNvPr id="7" name="Text 4"/>
          <p:cNvSpPr/>
          <p:nvPr/>
        </p:nvSpPr>
        <p:spPr>
          <a:xfrm>
            <a:off x="5441417" y="3605014"/>
            <a:ext cx="588074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Smart Shoppers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441417" y="4071640"/>
            <a:ext cx="588074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spenders who actively maximize value through discounts — they buy more, not just cheaper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52410" y="4751983"/>
            <a:ext cx="6258761" cy="1335980"/>
          </a:xfrm>
          <a:custGeom>
            <a:avLst/>
            <a:gdLst/>
            <a:ahLst/>
            <a:cxnLst/>
            <a:rect l="l" t="t" r="r" b="b"/>
            <a:pathLst>
              <a:path w="6258761" h="1335980">
                <a:moveTo>
                  <a:pt x="0" y="0"/>
                </a:moveTo>
                <a:lnTo>
                  <a:pt x="6258761" y="0"/>
                </a:lnTo>
                <a:lnTo>
                  <a:pt x="6258761" y="1269822"/>
                </a:lnTo>
                <a:arcTo hR="66158" wR="66156" stAng="0" swAng="5400000"/>
                <a:lnTo>
                  <a:pt x="66156" y="1335980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4"/>
          </a:solidFill>
          <a:ln/>
        </p:spPr>
      </p:sp>
      <p:sp>
        <p:nvSpPr>
          <p:cNvPr id="10" name="Shape 7"/>
          <p:cNvSpPr/>
          <p:nvPr/>
        </p:nvSpPr>
        <p:spPr>
          <a:xfrm>
            <a:off x="5252410" y="4751983"/>
            <a:ext cx="6258761" cy="25400"/>
          </a:xfrm>
          <a:prstGeom prst="roundRect">
            <a:avLst>
              <a:gd name="adj" fmla="val 49999"/>
            </a:avLst>
          </a:prstGeom>
          <a:solidFill>
            <a:srgbClr val="FFE0CC"/>
          </a:solidFill>
          <a:ln/>
        </p:spPr>
      </p:sp>
      <p:sp>
        <p:nvSpPr>
          <p:cNvPr id="11" name="Text 8"/>
          <p:cNvSpPr/>
          <p:nvPr/>
        </p:nvSpPr>
        <p:spPr>
          <a:xfrm>
            <a:off x="5441417" y="4940995"/>
            <a:ext cx="5880747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Strategic Opportunity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41417" y="5407620"/>
            <a:ext cx="5880747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 premium customers with exclusive, members-only offers to reinforce loyalty and increase frequency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761"/>
            <a:ext cx="10868745" cy="600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spc="-36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Top-Rated Products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952030"/>
            <a:ext cx="3549264" cy="300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18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Customer Satisfaction Leaders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2388791"/>
            <a:ext cx="3549264" cy="772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product categories consistently earn the highest review ratings, signaling strong quality perception and repeat-purchase potential.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61475" y="3314700"/>
            <a:ext cx="3549264" cy="1098153"/>
          </a:xfrm>
          <a:prstGeom prst="roundRect">
            <a:avLst>
              <a:gd name="adj" fmla="val 6145"/>
            </a:avLst>
          </a:prstGeom>
          <a:solidFill>
            <a:srgbClr val="FFE0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106" y="3503116"/>
            <a:ext cx="200814" cy="160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3551" y="3477617"/>
            <a:ext cx="2866556" cy="772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these categories prominently in marketing campaigns and new customer onboarding flows.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588" y="1522611"/>
            <a:ext cx="5888287" cy="333672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61475" y="5166519"/>
            <a:ext cx="3531901" cy="1127621"/>
          </a:xfrm>
          <a:prstGeom prst="roundRect">
            <a:avLst>
              <a:gd name="adj" fmla="val 5984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41156" y="5346204"/>
            <a:ext cx="3172539" cy="300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18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👚</a:t>
            </a:r>
            <a:pPr algn="l" indent="0" marL="0">
              <a:lnSpc>
                <a:spcPct val="108000"/>
              </a:lnSpc>
              <a:buNone/>
            </a:pPr>
            <a:r>
              <a:rPr lang="en-US" sz="1800" spc="-18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Blouse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41156" y="5728295"/>
            <a:ext cx="3172539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Highest customer satisfaction across all reviews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29897" y="5166519"/>
            <a:ext cx="3531901" cy="1127621"/>
          </a:xfrm>
          <a:prstGeom prst="roundRect">
            <a:avLst>
              <a:gd name="adj" fmla="val 5984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09578" y="5346204"/>
            <a:ext cx="3172539" cy="300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18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👗</a:t>
            </a:r>
            <a:pPr algn="l" indent="0" marL="0">
              <a:lnSpc>
                <a:spcPct val="108000"/>
              </a:lnSpc>
              <a:buNone/>
            </a:pPr>
            <a:r>
              <a:rPr lang="en-US" sz="1800" spc="-18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Dress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509578" y="5728295"/>
            <a:ext cx="3172539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Consistently excellent ratings and strong approval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998319" y="5166519"/>
            <a:ext cx="3531901" cy="1127621"/>
          </a:xfrm>
          <a:prstGeom prst="roundRect">
            <a:avLst>
              <a:gd name="adj" fmla="val 5984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78000" y="5346204"/>
            <a:ext cx="3172539" cy="300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spc="-18" kern="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👔</a:t>
            </a:r>
            <a:pPr algn="l" indent="0" marL="0">
              <a:lnSpc>
                <a:spcPct val="108000"/>
              </a:lnSpc>
              <a:buNone/>
            </a:pPr>
            <a:r>
              <a:rPr lang="en-US" sz="1800" spc="-18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Shirt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8178000" y="5728295"/>
            <a:ext cx="3172539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Reliable quality with broad customer appeal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9827"/>
            <a:ext cx="10868745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50" spc="-4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Shipping Preferences Impact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61475" y="2084288"/>
            <a:ext cx="10868745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Shipping choice is a meaningful signal of purchase intent — customers who select express shipping consistently spend more per transaction.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882702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spc="-4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$65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661475" y="3742630"/>
            <a:ext cx="5316206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Express Shipping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61475" y="4209256"/>
            <a:ext cx="5316206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purchase amount — customers who prioritize speed spend more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13915" y="2882702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spc="-4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$58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6213915" y="3742630"/>
            <a:ext cx="5316305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100" spc="-21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Standard Shipping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213915" y="4209256"/>
            <a:ext cx="5316305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purchase amount — price-sensitive segment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4913213"/>
            <a:ext cx="10868745" cy="944860"/>
          </a:xfrm>
          <a:prstGeom prst="roundRect">
            <a:avLst>
              <a:gd name="adj" fmla="val 8402"/>
            </a:avLst>
          </a:prstGeom>
          <a:solidFill>
            <a:srgbClr val="FFE0CC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155505"/>
            <a:ext cx="236234" cy="1890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75723" y="5149453"/>
            <a:ext cx="1006549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Express shipping customers spend 12% more per transaction.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Consider promoting express options at checkout to nudge higher basket sizes.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3307"/>
            <a:ext cx="10868745" cy="625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50" spc="-38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Subscription Impact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541" y="1598414"/>
            <a:ext cx="6229393" cy="35300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8022" y="2573238"/>
            <a:ext cx="3538449" cy="625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spc="-19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Subscribers Drive Disproportionate Value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7998022" y="3347244"/>
            <a:ext cx="3538449" cy="8211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Subscription customers consistently outperform non-subscribers across every key metric — making subscription growth a top strategic priority.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279" y="5472658"/>
            <a:ext cx="251116" cy="2511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5577" y="5462191"/>
            <a:ext cx="2955157" cy="312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spc="-1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Higher Spend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205577" y="5864027"/>
            <a:ext cx="2955157" cy="41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Subscribers spend more per transaction than non-subscribers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08973" y="5472658"/>
            <a:ext cx="251116" cy="2511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90271" y="5462191"/>
            <a:ext cx="2955157" cy="312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spc="-1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Revenue Share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4890271" y="5864027"/>
            <a:ext cx="2955157" cy="41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Subscription customers contribute a significant share of total revenue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93666" y="5472658"/>
            <a:ext cx="251116" cy="2511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574964" y="5462191"/>
            <a:ext cx="2955157" cy="312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spc="-19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Loyalty Rate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574964" y="5864027"/>
            <a:ext cx="2955157" cy="41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Subscribers show markedly higher repeat purchase frequency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773"/>
            <a:ext cx="10868745" cy="380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spc="-23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Customer Segmentation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2402880"/>
            <a:ext cx="5310253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-12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Three Tiers of Customer Value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647752"/>
            <a:ext cx="531025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Half the customer base are first-time buyers — the greatest growth opportunity lies in converting them up the loyalty ladder.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61475" y="2912566"/>
            <a:ext cx="5310253" cy="250825"/>
          </a:xfrm>
          <a:prstGeom prst="roundRect">
            <a:avLst>
              <a:gd name="adj" fmla="val 17037"/>
            </a:avLst>
          </a:prstGeom>
          <a:solidFill>
            <a:srgbClr val="FFE0C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172" y="2992735"/>
            <a:ext cx="127096" cy="1016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1964" y="2987179"/>
            <a:ext cx="5487652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on converting New → Returning → Loyal through targeted onboarding and rewards.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317" y="1060748"/>
            <a:ext cx="3451635" cy="345172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61475" y="4635698"/>
            <a:ext cx="1811391" cy="527943"/>
          </a:xfrm>
          <a:prstGeom prst="roundRect">
            <a:avLst>
              <a:gd name="adj" fmla="val 8094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495586" y="4806652"/>
            <a:ext cx="143070" cy="1859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10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2574563" y="4737398"/>
            <a:ext cx="8853961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-12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Loyal — 15%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2574563" y="4960342"/>
            <a:ext cx="8853961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High-value, repeat customers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523665" y="5160466"/>
            <a:ext cx="8955756" cy="6350"/>
          </a:xfrm>
          <a:prstGeom prst="roundRect">
            <a:avLst>
              <a:gd name="adj" fmla="val 49999"/>
            </a:avLst>
          </a:prstGeom>
          <a:solidFill>
            <a:srgbClr val="FFE0CC"/>
          </a:solidFill>
          <a:ln/>
        </p:spPr>
      </p:sp>
      <p:sp>
        <p:nvSpPr>
          <p:cNvPr id="14" name="Shape 10"/>
          <p:cNvSpPr/>
          <p:nvPr/>
        </p:nvSpPr>
        <p:spPr>
          <a:xfrm>
            <a:off x="661475" y="5214441"/>
            <a:ext cx="3622882" cy="527943"/>
          </a:xfrm>
          <a:prstGeom prst="roundRect">
            <a:avLst>
              <a:gd name="adj" fmla="val 8094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401331" y="5385395"/>
            <a:ext cx="143070" cy="1859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10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386054" y="5316141"/>
            <a:ext cx="7042470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-12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Returning — 35%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386054" y="5539085"/>
            <a:ext cx="7042470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Regular shoppers with growth potential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335156" y="5739209"/>
            <a:ext cx="7144266" cy="6350"/>
          </a:xfrm>
          <a:prstGeom prst="roundRect">
            <a:avLst>
              <a:gd name="adj" fmla="val 49999"/>
            </a:avLst>
          </a:prstGeom>
          <a:solidFill>
            <a:srgbClr val="FFE0CC"/>
          </a:solidFill>
          <a:ln/>
        </p:spPr>
      </p:sp>
      <p:sp>
        <p:nvSpPr>
          <p:cNvPr id="19" name="Shape 15"/>
          <p:cNvSpPr/>
          <p:nvPr/>
        </p:nvSpPr>
        <p:spPr>
          <a:xfrm>
            <a:off x="661475" y="5793184"/>
            <a:ext cx="5434373" cy="527943"/>
          </a:xfrm>
          <a:prstGeom prst="roundRect">
            <a:avLst>
              <a:gd name="adj" fmla="val 8094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07077" y="5964138"/>
            <a:ext cx="143070" cy="1859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spc="-10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197544" y="5894884"/>
            <a:ext cx="5230979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-12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New — 50%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197544" y="6117828"/>
            <a:ext cx="5230979" cy="10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First-time buyers needing conversion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652264"/>
            <a:ext cx="6296860" cy="4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50" spc="-28" kern="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Strategic Recommendations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3360" y="1231205"/>
            <a:ext cx="6906444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high-impact actions to drive revenue growth and customer retention.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233360" y="1452662"/>
            <a:ext cx="6296860" cy="1128415"/>
          </a:xfrm>
          <a:prstGeom prst="roundRect">
            <a:avLst>
              <a:gd name="adj" fmla="val 4573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68890" y="1588195"/>
            <a:ext cx="368489" cy="368498"/>
          </a:xfrm>
          <a:prstGeom prst="ellipse">
            <a:avLst/>
          </a:prstGeom>
          <a:solidFill>
            <a:srgbClr val="FF954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0190" y="1689497"/>
            <a:ext cx="165790" cy="1657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8890" y="2036465"/>
            <a:ext cx="6025801" cy="2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-14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368890" y="2313880"/>
            <a:ext cx="6025801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Promote exclusive subscriber benefits to grow the highest-value segment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233360" y="2660848"/>
            <a:ext cx="6296860" cy="1128415"/>
          </a:xfrm>
          <a:prstGeom prst="roundRect">
            <a:avLst>
              <a:gd name="adj" fmla="val 4573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368890" y="2796381"/>
            <a:ext cx="368489" cy="368498"/>
          </a:xfrm>
          <a:prstGeom prst="ellipse">
            <a:avLst/>
          </a:prstGeom>
          <a:solidFill>
            <a:srgbClr val="FF954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0190" y="2897684"/>
            <a:ext cx="165790" cy="16579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68890" y="3244652"/>
            <a:ext cx="6025801" cy="2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-14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368890" y="3522067"/>
            <a:ext cx="6025801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Reward repeat buyers to accelerate New → Returning → Loyal conversion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233360" y="3869035"/>
            <a:ext cx="6296860" cy="1128415"/>
          </a:xfrm>
          <a:prstGeom prst="roundRect">
            <a:avLst>
              <a:gd name="adj" fmla="val 4573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368890" y="4004568"/>
            <a:ext cx="368489" cy="368498"/>
          </a:xfrm>
          <a:prstGeom prst="ellipse">
            <a:avLst/>
          </a:prstGeom>
          <a:solidFill>
            <a:srgbClr val="FF954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0190" y="4105870"/>
            <a:ext cx="165790" cy="16579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68890" y="4452838"/>
            <a:ext cx="6025801" cy="2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-14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368890" y="4730254"/>
            <a:ext cx="6025801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campaigns on high-revenue segments and express shipping users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233360" y="5077222"/>
            <a:ext cx="6296860" cy="1128415"/>
          </a:xfrm>
          <a:prstGeom prst="roundRect">
            <a:avLst>
              <a:gd name="adj" fmla="val 4573"/>
            </a:avLst>
          </a:prstGeom>
          <a:solidFill>
            <a:srgbClr val="FFFFF4"/>
          </a:solidFill>
          <a:ln w="12700">
            <a:solidFill>
              <a:srgbClr val="FFE0C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368890" y="5212755"/>
            <a:ext cx="368489" cy="368498"/>
          </a:xfrm>
          <a:prstGeom prst="ellipse">
            <a:avLst/>
          </a:prstGeom>
          <a:solidFill>
            <a:srgbClr val="FF954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70190" y="5314057"/>
            <a:ext cx="165790" cy="16579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68890" y="5661025"/>
            <a:ext cx="6025801" cy="229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-14" kern="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5368890" y="5938441"/>
            <a:ext cx="6025801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9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Highlight top-rated products — Blouses, Dresses, Shirts — in all campaigns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2026-08-25T16:17:43Z</dcterms:created>
  <dcterms:modified xsi:type="dcterms:W3CDTF">2026-08-25T16:17:43Z</dcterms:modified>
</cp:coreProperties>
</file>